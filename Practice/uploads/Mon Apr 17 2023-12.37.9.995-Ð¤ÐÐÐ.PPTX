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6" r:id="rId4"/>
    <p:sldId id="267" r:id="rId5"/>
    <p:sldId id="258" r:id="rId6"/>
    <p:sldId id="259" r:id="rId7"/>
    <p:sldId id="260" r:id="rId8"/>
    <p:sldId id="262" r:id="rId9"/>
    <p:sldId id="263" r:id="rId10"/>
    <p:sldId id="264" r:id="rId11"/>
    <p:sldId id="265" r:id="rId1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A69CF88E-7711-4D3D-AF1D-0929112AE873}">
          <p14:sldIdLst>
            <p14:sldId id="256"/>
            <p14:sldId id="257"/>
            <p14:sldId id="266"/>
            <p14:sldId id="267"/>
            <p14:sldId id="258"/>
            <p14:sldId id="259"/>
            <p14:sldId id="260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Скругленный прямоугольник 12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95400" y="2400300"/>
            <a:ext cx="6400800" cy="120015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23.01.2023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62932" y="1086978"/>
            <a:ext cx="9021537" cy="114551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62932" y="1047540"/>
            <a:ext cx="9021537" cy="90435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62932" y="2232487"/>
            <a:ext cx="9021537" cy="82899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57200" y="1129448"/>
            <a:ext cx="8229600" cy="1102519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7772400" cy="342900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Скругленный прямоугольник 9"/>
          <p:cNvSpPr/>
          <p:nvPr/>
        </p:nvSpPr>
        <p:spPr>
          <a:xfrm>
            <a:off x="65313" y="52317"/>
            <a:ext cx="9013372" cy="501915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714376"/>
            <a:ext cx="7772400" cy="1021556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1910953"/>
            <a:ext cx="7772400" cy="1003697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0100" y="4629150"/>
            <a:ext cx="4000500" cy="3429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 flipV="1">
            <a:off x="69413" y="1782623"/>
            <a:ext cx="9013515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69147" y="1756107"/>
            <a:ext cx="9013781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оугольник 8"/>
          <p:cNvSpPr/>
          <p:nvPr/>
        </p:nvSpPr>
        <p:spPr>
          <a:xfrm>
            <a:off x="68307" y="1851660"/>
            <a:ext cx="9014621" cy="3429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91440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933950" y="1085850"/>
            <a:ext cx="3749040" cy="342900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953000" y="1085850"/>
            <a:ext cx="3733800" cy="5715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23.01.2023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half" idx="2"/>
          </p:nvPr>
        </p:nvSpPr>
        <p:spPr>
          <a:xfrm>
            <a:off x="9144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4"/>
          </p:nvPr>
        </p:nvSpPr>
        <p:spPr>
          <a:xfrm>
            <a:off x="4953000" y="1685925"/>
            <a:ext cx="3733800" cy="291465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23.01.2023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Скругленный прямоугольник 8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204788"/>
            <a:ext cx="7772400" cy="85725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914400" y="1200150"/>
            <a:ext cx="1905000" cy="337185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1"/>
          </p:nvPr>
        </p:nvSpPr>
        <p:spPr>
          <a:xfrm>
            <a:off x="2971800" y="1200150"/>
            <a:ext cx="5715000" cy="3371850"/>
          </a:xfrm>
        </p:spPr>
        <p:txBody>
          <a:bodyPr vert="horz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3675413"/>
            <a:ext cx="7315200" cy="391716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914400" y="4084369"/>
            <a:ext cx="7315200" cy="51435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23.01.2023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914400" y="4629150"/>
            <a:ext cx="3886200" cy="342900"/>
          </a:xfr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46304" y="4656582"/>
            <a:ext cx="457200" cy="34290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 flipV="1">
            <a:off x="68307" y="3512666"/>
            <a:ext cx="9006840" cy="6858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Прямоугольник 11"/>
          <p:cNvSpPr/>
          <p:nvPr/>
        </p:nvSpPr>
        <p:spPr>
          <a:xfrm>
            <a:off x="68509" y="3487856"/>
            <a:ext cx="9006639" cy="3428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68511" y="3579919"/>
            <a:ext cx="9006637" cy="3660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68309" y="50007"/>
            <a:ext cx="9001873" cy="3436144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81"/>
            <a:ext cx="2011680" cy="4388644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914400" y="205980"/>
            <a:ext cx="5562600" cy="4388644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23.01.2023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Скругленный прямоугольник 7"/>
          <p:cNvSpPr/>
          <p:nvPr/>
        </p:nvSpPr>
        <p:spPr>
          <a:xfrm>
            <a:off x="64008" y="52316"/>
            <a:ext cx="9013372" cy="5020056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914400" y="205979"/>
            <a:ext cx="7772400" cy="85725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914400" y="1085850"/>
            <a:ext cx="7772400" cy="3429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172200" y="4643437"/>
            <a:ext cx="2476500" cy="357188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23.01.2023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914400" y="4629150"/>
            <a:ext cx="3962400" cy="3429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146304" y="4657725"/>
            <a:ext cx="457200" cy="3429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1600" dirty="0"/>
              <a:t>Подготовили: Скрипкин Максим и Краснопольский Сергей, КБ-201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2000" dirty="0"/>
              <a:t>Расчет вероятности обнаружения и разработка презентации для технического канала утечки информации при защите объекта: </a:t>
            </a:r>
            <a:r>
              <a:rPr lang="ru-RU" sz="2000" dirty="0" err="1"/>
              <a:t>Kia</a:t>
            </a:r>
            <a:r>
              <a:rPr lang="ru-RU" sz="2000" dirty="0"/>
              <a:t> </a:t>
            </a:r>
            <a:r>
              <a:rPr lang="ru-RU" sz="2000" dirty="0" err="1"/>
              <a:t>Rio</a:t>
            </a:r>
            <a:endParaRPr lang="ru-RU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1600" dirty="0"/>
              <a:t>Цель работы: нахождение вероятности обнаружения объекта разведки при различных окружающих и погодных условиях. </a:t>
            </a:r>
          </a:p>
          <a:p>
            <a:pPr marL="0" indent="0">
              <a:buNone/>
            </a:pPr>
            <a:r>
              <a:rPr lang="ru-RU" sz="1600" dirty="0"/>
              <a:t>Задачи работы: </a:t>
            </a:r>
          </a:p>
          <a:p>
            <a:r>
              <a:rPr lang="ru-RU" sz="1600" dirty="0"/>
              <a:t>составить алгоритм расчета вероятности обнаружения объекта разведки; </a:t>
            </a:r>
          </a:p>
          <a:p>
            <a:r>
              <a:rPr lang="ru-RU" sz="1600" dirty="0"/>
              <a:t>описать технический канал утечки информации; </a:t>
            </a:r>
          </a:p>
          <a:p>
            <a:r>
              <a:rPr lang="ru-RU" sz="1600" dirty="0"/>
              <a:t>рассчитать вероятность при имеющихся условиях и сделать вывод о возможности обнаружения; </a:t>
            </a:r>
          </a:p>
          <a:p>
            <a:r>
              <a:rPr lang="ru-RU" sz="1600" dirty="0"/>
              <a:t>создать программную реализацию для демонстрации точности алгоритма в различных условиях разведки.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428610"/>
            <a:ext cx="1533525" cy="323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1071552"/>
            <a:ext cx="542925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57356" y="928676"/>
            <a:ext cx="1828800" cy="495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>
            <a:stCxn id="1026" idx="3"/>
            <a:endCxn id="1028" idx="1"/>
          </p:cNvCxnSpPr>
          <p:nvPr/>
        </p:nvCxnSpPr>
        <p:spPr>
          <a:xfrm>
            <a:off x="1676369" y="590535"/>
            <a:ext cx="180987" cy="5857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1027" idx="3"/>
            <a:endCxn id="1028" idx="1"/>
          </p:cNvCxnSpPr>
          <p:nvPr/>
        </p:nvCxnSpPr>
        <p:spPr>
          <a:xfrm flipV="1">
            <a:off x="1185835" y="1176326"/>
            <a:ext cx="671521" cy="8572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57158" y="3071816"/>
            <a:ext cx="1304925" cy="523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42844" y="4143386"/>
            <a:ext cx="1714512" cy="3578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000232" y="3500444"/>
            <a:ext cx="2357454" cy="3480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785918" y="2143122"/>
            <a:ext cx="2628900" cy="342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4857752" y="2071684"/>
            <a:ext cx="695325" cy="428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500562" y="571486"/>
            <a:ext cx="561975" cy="390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5643570" y="571486"/>
            <a:ext cx="771525" cy="390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786578" y="500048"/>
            <a:ext cx="676275" cy="5048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215074" y="1928808"/>
            <a:ext cx="1304925" cy="7143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39" name="Picture 15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4780599" y="3500444"/>
            <a:ext cx="4130035" cy="8129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28" name="Прямая со стрелкой 27"/>
          <p:cNvCxnSpPr>
            <a:stCxn id="1030" idx="3"/>
            <a:endCxn id="1032" idx="1"/>
          </p:cNvCxnSpPr>
          <p:nvPr/>
        </p:nvCxnSpPr>
        <p:spPr>
          <a:xfrm>
            <a:off x="1662083" y="3333754"/>
            <a:ext cx="338149" cy="34073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1031" idx="3"/>
            <a:endCxn id="1032" idx="1"/>
          </p:cNvCxnSpPr>
          <p:nvPr/>
        </p:nvCxnSpPr>
        <p:spPr>
          <a:xfrm flipV="1">
            <a:off x="1857356" y="3674484"/>
            <a:ext cx="142876" cy="64784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1028" idx="2"/>
            <a:endCxn id="1033" idx="0"/>
          </p:cNvCxnSpPr>
          <p:nvPr/>
        </p:nvCxnSpPr>
        <p:spPr>
          <a:xfrm rot="16200000" flipH="1">
            <a:off x="2576489" y="1619243"/>
            <a:ext cx="719146" cy="3286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stCxn id="1032" idx="0"/>
            <a:endCxn id="1033" idx="2"/>
          </p:cNvCxnSpPr>
          <p:nvPr/>
        </p:nvCxnSpPr>
        <p:spPr>
          <a:xfrm rot="16200000" flipV="1">
            <a:off x="2632453" y="2953937"/>
            <a:ext cx="1014422" cy="7859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stCxn id="1033" idx="3"/>
            <a:endCxn id="1034" idx="1"/>
          </p:cNvCxnSpPr>
          <p:nvPr/>
        </p:nvCxnSpPr>
        <p:spPr>
          <a:xfrm flipV="1">
            <a:off x="4414818" y="2285997"/>
            <a:ext cx="442934" cy="285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/>
          <p:cNvCxnSpPr>
            <a:stCxn id="1035" idx="3"/>
            <a:endCxn id="1036" idx="1"/>
          </p:cNvCxnSpPr>
          <p:nvPr/>
        </p:nvCxnSpPr>
        <p:spPr>
          <a:xfrm>
            <a:off x="5062537" y="766749"/>
            <a:ext cx="581033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>
            <a:stCxn id="1036" idx="3"/>
            <a:endCxn id="1037" idx="1"/>
          </p:cNvCxnSpPr>
          <p:nvPr/>
        </p:nvCxnSpPr>
        <p:spPr>
          <a:xfrm flipV="1">
            <a:off x="6415095" y="752461"/>
            <a:ext cx="371483" cy="142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/>
          <p:cNvCxnSpPr>
            <a:stCxn id="1034" idx="3"/>
            <a:endCxn id="1038" idx="1"/>
          </p:cNvCxnSpPr>
          <p:nvPr/>
        </p:nvCxnSpPr>
        <p:spPr>
          <a:xfrm flipV="1">
            <a:off x="5553077" y="2285996"/>
            <a:ext cx="661997" cy="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/>
          <p:cNvCxnSpPr>
            <a:stCxn id="1037" idx="2"/>
            <a:endCxn id="1038" idx="0"/>
          </p:cNvCxnSpPr>
          <p:nvPr/>
        </p:nvCxnSpPr>
        <p:spPr>
          <a:xfrm rot="5400000">
            <a:off x="6534160" y="1338251"/>
            <a:ext cx="923935" cy="257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>
            <a:stCxn id="1038" idx="2"/>
            <a:endCxn id="1039" idx="0"/>
          </p:cNvCxnSpPr>
          <p:nvPr/>
        </p:nvCxnSpPr>
        <p:spPr>
          <a:xfrm rot="5400000">
            <a:off x="6427947" y="3060853"/>
            <a:ext cx="857261" cy="219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A9934A8-C1D2-70BF-6643-080AF27C6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545" y="1707654"/>
            <a:ext cx="7467230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DC302-DAF6-9936-689F-8846B2465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05979"/>
            <a:ext cx="8435280" cy="857250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Описание объекта разведки, среды и ФПУ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7981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Описание объекта разведки, среды и ФПУ</a:t>
            </a:r>
          </a:p>
        </p:txBody>
      </p:sp>
      <p:pic>
        <p:nvPicPr>
          <p:cNvPr id="5" name="Рисунок 4" descr="https://im.kommersant.ru/Issues.photo/TEMA/2013/2341/KMO_121703_00489_1_t218_181036.jpg"/>
          <p:cNvPicPr/>
          <p:nvPr/>
        </p:nvPicPr>
        <p:blipFill>
          <a:blip r:embed="rId2"/>
          <a:srcRect t="7389"/>
          <a:stretch>
            <a:fillRect/>
          </a:stretch>
        </p:blipFill>
        <p:spPr bwMode="auto">
          <a:xfrm>
            <a:off x="539552" y="1347614"/>
            <a:ext cx="3143272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 descr="C:\Users\User\Downloads\Canon-EOS-5D-Mark-II-Camera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19872" y="2088688"/>
            <a:ext cx="3071834" cy="2305206"/>
          </a:xfrm>
          <a:prstGeom prst="rect">
            <a:avLst/>
          </a:prstGeom>
          <a:noFill/>
        </p:spPr>
      </p:pic>
      <p:pic>
        <p:nvPicPr>
          <p:cNvPr id="8" name="Рисунок 7" descr="https://upload.wikimedia.org/wikipedia/commons/thumb/e/e9/EF-lens-mount.jpg/220px-EF-lens-mount.jpg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80814" y="2787774"/>
            <a:ext cx="2143140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вероятности обнаружения</a:t>
            </a:r>
            <a:endParaRPr lang="ru-RU" b="1" dirty="0"/>
          </a:p>
        </p:txBody>
      </p:sp>
      <p:graphicFrame>
        <p:nvGraphicFramePr>
          <p:cNvPr id="6" name="Содержимое 5"/>
          <p:cNvGraphicFramePr>
            <a:graphicFrameLocks noGrp="1"/>
          </p:cNvGraphicFramePr>
          <p:nvPr>
            <p:ph sz="quarter" idx="1"/>
          </p:nvPr>
        </p:nvGraphicFramePr>
        <p:xfrm>
          <a:off x="714348" y="1071552"/>
          <a:ext cx="7772400" cy="35608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Величина</a:t>
                      </a: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Значение</a:t>
                      </a: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Величина</a:t>
                      </a: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  <a:ea typeface="Times New Roman"/>
                          <a:cs typeface="Times New Roman"/>
                        </a:rPr>
                        <a:t>Значение</a:t>
                      </a:r>
                      <a:endParaRPr lang="ru-RU" sz="11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Длина автомобиля, </a:t>
                      </a:r>
                      <a:endParaRPr lang="ru-RU" sz="105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4,37 м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Коэффициент пропускания атмосферы, 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0,92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Ширина автомобиля, 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1,7 м</a:t>
                      </a:r>
                      <a:endParaRPr lang="ru-RU" sz="105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Диаметр входного зрачка объектива, </a:t>
                      </a: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</a:rPr>
                        <a:t>D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16 мм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Размер матрицы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36 </a:t>
                      </a:r>
                      <a:r>
                        <a:rPr lang="ru-RU" sz="1200" dirty="0" err="1">
                          <a:latin typeface="Times New Roman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 24 мм</a:t>
                      </a:r>
                      <a:endParaRPr lang="ru-RU" sz="105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Освещенность Земли, 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12,5 Вт/м</a:t>
                      </a:r>
                      <a:r>
                        <a:rPr lang="ru-RU" sz="1200" baseline="30000"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Количество пикселей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5616 × 3744 пикселей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Коэффициент отражения ОР, </a:t>
                      </a:r>
                      <a:endParaRPr lang="ru-RU" sz="105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  <a:endParaRPr lang="ru-RU" sz="105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Дальность разведки, 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600 м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Коэффициент отражения фона, </a:t>
                      </a:r>
                      <a:endParaRPr lang="ru-RU" sz="105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0,13</a:t>
                      </a:r>
                      <a:endParaRPr lang="ru-RU" sz="105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Фокусное расстояние, 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50 мм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Время экспозиции, время, 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0,33 с</a:t>
                      </a:r>
                      <a:endParaRPr lang="ru-RU" sz="105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>
                          <a:latin typeface="Times New Roman"/>
                          <a:ea typeface="Times New Roman"/>
                          <a:cs typeface="Times New Roman"/>
                        </a:rPr>
                        <a:t>Внутренние шумы, </a:t>
                      </a:r>
                      <a:endParaRPr lang="ru-RU" sz="105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ru-RU" sz="1200" dirty="0">
                          <a:latin typeface="Times New Roman"/>
                          <a:ea typeface="Times New Roman"/>
                          <a:cs typeface="Times New Roman"/>
                        </a:rPr>
                        <a:t>0,4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(Вт/м</a:t>
                      </a:r>
                      <a:r>
                        <a:rPr lang="ru-RU" sz="1200" baseline="300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) * с</a:t>
                      </a:r>
                      <a:endParaRPr lang="ru-RU" sz="105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вероятности обнаружения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15008" y="1071552"/>
            <a:ext cx="2695843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5074" y="1857370"/>
            <a:ext cx="1428760" cy="651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43570" y="2643188"/>
            <a:ext cx="3038897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43438" y="3786196"/>
            <a:ext cx="4365565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500034" y="1071552"/>
            <a:ext cx="500066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Плотность потока энергии, распространяющейся от ОР (фона) в сторону аппаратуры разведки: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500034" y="2143122"/>
            <a:ext cx="36973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Относительное отверстие объектива: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500034" y="2857502"/>
            <a:ext cx="4857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Облученность (освещенность) изображения ОР и фона на пикселях: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500034" y="4071948"/>
            <a:ext cx="407355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Пространственной частота и значение </a:t>
            </a:r>
            <a:r>
              <a:rPr lang="en-US" sz="1600" dirty="0"/>
              <a:t>X </a:t>
            </a:r>
            <a:r>
              <a:rPr lang="ru-RU" sz="1600" dirty="0"/>
              <a:t>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вероятности обнаружения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642910" y="1714494"/>
            <a:ext cx="238289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Контраст с учетом ЧКХ: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642910" y="2285998"/>
            <a:ext cx="485778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Отношение сигнал/шум в одном элементе разрешения фотоприемника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642910" y="1214428"/>
            <a:ext cx="16547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dirty="0"/>
              <a:t>ЧКХ объектива: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1142990"/>
            <a:ext cx="5413215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1785932"/>
            <a:ext cx="3925992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43570" y="2428874"/>
            <a:ext cx="1871997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Прямоугольник 16"/>
          <p:cNvSpPr/>
          <p:nvPr/>
        </p:nvSpPr>
        <p:spPr>
          <a:xfrm>
            <a:off x="642910" y="3143254"/>
            <a:ext cx="4572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600" dirty="0"/>
              <a:t>Количество обеспечиваемых аппаратурой разведки элементов разрешения на местности: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86380" y="3143254"/>
            <a:ext cx="2818385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15008" y="4143386"/>
            <a:ext cx="1835514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Расчет вероятности обнаружения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500034" y="1214428"/>
            <a:ext cx="50006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Воспринимаемое отношение сигнал/шум :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571472" y="2071684"/>
            <a:ext cx="82868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Заметим, что                    , поэтому рассчитаем вероятность обнаружения при                     :     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1071552"/>
            <a:ext cx="2718488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2071684"/>
            <a:ext cx="794294" cy="285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 r="2857"/>
          <a:stretch>
            <a:fillRect/>
          </a:stretch>
        </p:blipFill>
        <p:spPr bwMode="auto">
          <a:xfrm>
            <a:off x="7643834" y="2143122"/>
            <a:ext cx="857256" cy="214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142976" y="2714626"/>
            <a:ext cx="7349285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Программная реализация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32" y="1071552"/>
            <a:ext cx="5143536" cy="3571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В ходе выполнения данной курсовой работы мы составили алгоритм расчёта вероятности обнаружения объекта разведки, описали технический канал утечки информации, рассчитали вероятность при заранее определённых условиях обстановки и получили следующий результат: при хорошей прозрачности атмосферы в пасмурный день (что приблизительно соответствует освещённости в 1000 люкс) вероятность обнаружить красный автомобиль</a:t>
            </a:r>
            <a:r>
              <a:rPr lang="en-US" sz="1800" dirty="0"/>
              <a:t> </a:t>
            </a:r>
            <a:r>
              <a:rPr lang="en-US" sz="1800" dirty="0" err="1">
                <a:latin typeface="Cambria" pitchFamily="18" charset="0"/>
                <a:ea typeface="Cambria" pitchFamily="18" charset="0"/>
              </a:rPr>
              <a:t>KiaRio</a:t>
            </a:r>
            <a:r>
              <a:rPr lang="ru-RU" sz="1800" dirty="0"/>
              <a:t> на фоне зелёной растительности при использовании БПЛА «Птеро-Е5» с высоты наблюдения 600 метров составила почти 70%.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праведливость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Справедливость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Справедливость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58</TotalTime>
  <Words>347</Words>
  <Application>Microsoft Office PowerPoint</Application>
  <PresentationFormat>Экран (16:9)</PresentationFormat>
  <Paragraphs>58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Calibri</vt:lpstr>
      <vt:lpstr>Cambria</vt:lpstr>
      <vt:lpstr>Franklin Gothic Book</vt:lpstr>
      <vt:lpstr>Perpetua</vt:lpstr>
      <vt:lpstr>Times New Roman</vt:lpstr>
      <vt:lpstr>Wingdings 2</vt:lpstr>
      <vt:lpstr>Справедливость</vt:lpstr>
      <vt:lpstr>Расчет вероятности обнаружения и разработка презентации для технического канала утечки информации при защите объекта: Kia Rio</vt:lpstr>
      <vt:lpstr>ВВЕДЕНИЕ</vt:lpstr>
      <vt:lpstr>Презентация PowerPoint</vt:lpstr>
      <vt:lpstr>Описание объекта разведки, среды и ФПУ</vt:lpstr>
      <vt:lpstr>Описание объекта разведки, среды и ФПУ</vt:lpstr>
      <vt:lpstr>Расчет вероятности обнаружения</vt:lpstr>
      <vt:lpstr>Расчет вероятности обнаружения</vt:lpstr>
      <vt:lpstr>Расчет вероятности обнаружения</vt:lpstr>
      <vt:lpstr>Расчет вероятности обнаружения</vt:lpstr>
      <vt:lpstr>Программная реализация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Расчет вероятности обнаружения и разработка презентации для технического канала утечки информации при защите объекта: Kia Rio</dc:title>
  <dc:creator>User</dc:creator>
  <cp:lastModifiedBy>Максим Скрипкин</cp:lastModifiedBy>
  <cp:revision>16</cp:revision>
  <dcterms:created xsi:type="dcterms:W3CDTF">2022-12-21T19:26:50Z</dcterms:created>
  <dcterms:modified xsi:type="dcterms:W3CDTF">2023-01-23T17:48:43Z</dcterms:modified>
</cp:coreProperties>
</file>